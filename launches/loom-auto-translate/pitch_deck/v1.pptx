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3291840"/>
            <a:ext cx="3840480" cy="3840480"/>
          </a:xfrm>
          <a:prstGeom prst="ellipse">
            <a:avLst/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NEW IN LOOM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7315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Auto-translate for Loom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6583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Record once. Everyone watches in their own language, with captions and an AI voice-over.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Loom product marketing  ·  Concept launch  ·  November 2026</a:t>
            </a:r>
          </a:p>
        </p:txBody>
      </p:sp>
      <p:sp>
        <p:nvSpPr>
          <p:cNvPr id="9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Loom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What we'll cover today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21408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Why one update turns into three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24912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4320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Meet auto-translate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46704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64992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How it works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68496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986784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What the beta showed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608576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Plans and next steps</a:t>
            </a:r>
          </a:p>
        </p:txBody>
      </p:sp>
      <p:sp>
        <p:nvSpPr>
          <p:cNvPr id="17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Global teams record the same update twice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4023360" cy="3566160"/>
          </a:xfrm>
          <a:prstGeom prst="roundRect">
            <a:avLst>
              <a:gd name="adj" fmla="val 6000"/>
            </a:avLst>
          </a:prstGeom>
          <a:solidFill>
            <a:srgbClr val="17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3566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AB00"/>
                </a:solidFill>
                <a:latin typeface="Arial"/>
              </a:rPr>
              <a:t>3x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3474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takes a lead records of one update for a team in three languages.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286000"/>
            <a:ext cx="6309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B4D"/>
                </a:solidFill>
                <a:latin typeface="Arial"/>
              </a:rPr>
              <a:t>•  Leads re-record every update for each language on the team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B4D"/>
                </a:solidFill>
                <a:latin typeface="Arial"/>
              </a:rPr>
              <a:t>•  Or they send one version, and some people only get half of it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B4D"/>
                </a:solidFill>
                <a:latin typeface="Arial"/>
              </a:rPr>
              <a:t>•  Loom already transcribes in 50+ languages, but viewers still read in the original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B4D"/>
                </a:solidFill>
                <a:latin typeface="Arial"/>
              </a:rPr>
              <a:t>•  Time spent on extra takes is time not spent on the work</a:t>
            </a:r>
          </a:p>
        </p:txBody>
      </p:sp>
      <p:sp>
        <p:nvSpPr>
          <p:cNvPr id="9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One recording, every language on your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514600"/>
            <a:ext cx="685800" cy="6858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rial"/>
              </a:rPr>
              <a:t>Record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E6C84"/>
                </a:solidFill>
                <a:latin typeface="Arial"/>
              </a:rPr>
              <a:t>Share one Loom with the whole team. No second take for each region.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1945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19" y="2514600"/>
            <a:ext cx="685800" cy="685800"/>
          </a:xfrm>
          <a:prstGeom prst="ellipse">
            <a:avLst/>
          </a:prstGeom>
          <a:solidFill>
            <a:srgbClr val="655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34290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rial"/>
              </a:rPr>
              <a:t>Pick a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402336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E6C84"/>
                </a:solidFill>
                <a:latin typeface="Arial"/>
              </a:rPr>
              <a:t>Viewers choose from 10 languages in the player and get captions plus an AI voice-over.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21945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66758" y="2514600"/>
            <a:ext cx="685800" cy="685800"/>
          </a:xfrm>
          <a:prstGeom prst="ellipse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8" y="34290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rial"/>
              </a:rPr>
              <a:t>Nothing to redo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8" y="402336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E6C84"/>
                </a:solidFill>
                <a:latin typeface="Arial"/>
              </a:rPr>
              <a:t>Your original video stays exactly as you recorded it. Translation is added for the viewer.</a:t>
            </a:r>
          </a:p>
        </p:txBody>
      </p:sp>
      <p:sp>
        <p:nvSpPr>
          <p:cNvPr id="17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Three steps, and only one of them is yours</a:t>
            </a:r>
          </a:p>
        </p:txBody>
      </p:sp>
      <p:grpSp>
        <p:nvGrpSpPr>
          <p:cNvPr id="5" name="Steps"/>
          <p:cNvGrpSpPr/>
          <p:nvPr/>
        </p:nvGrpSpPr>
        <p:grpSpPr>
          <a:xfrm>
            <a:off x="548640" y="2286000"/>
            <a:ext cx="11064238" cy="3154679"/>
            <a:chOff x="548640" y="2286000"/>
            <a:chExt cx="11064238" cy="3154679"/>
          </a:xfrm>
        </p:grpSpPr>
        <p:sp>
          <p:nvSpPr>
            <p:cNvPr id="6" name="Pentagon 5"/>
            <p:cNvSpPr/>
            <p:nvPr/>
          </p:nvSpPr>
          <p:spPr>
            <a:xfrm>
              <a:off x="548640" y="2286000"/>
              <a:ext cx="3566160" cy="822960"/>
            </a:xfrm>
            <a:prstGeom prst="homePlate">
              <a:avLst/>
            </a:prstGeom>
            <a:solidFill>
              <a:srgbClr val="0052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b="1">
                  <a:solidFill>
                    <a:srgbClr val="FFFFFF"/>
                  </a:solidFill>
                  <a:latin typeface="Arial"/>
                </a:rPr>
                <a:t>Step 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8640" y="3383280"/>
              <a:ext cx="32918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200" b="1">
                  <a:solidFill>
                    <a:srgbClr val="172B4D"/>
                  </a:solidFill>
                  <a:latin typeface="Arial"/>
                </a:rPr>
                <a:t>Record and share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8640" y="3977639"/>
              <a:ext cx="3291840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>
                  <a:solidFill>
                    <a:srgbClr val="5E6C84"/>
                  </a:solidFill>
                  <a:latin typeface="Arial"/>
                </a:rPr>
                <a:t>Record and share a Loom the way you do today.</a:t>
              </a:r>
            </a:p>
          </p:txBody>
        </p:sp>
        <p:sp>
          <p:nvSpPr>
            <p:cNvPr id="9" name="Chevron 8"/>
            <p:cNvSpPr/>
            <p:nvPr/>
          </p:nvSpPr>
          <p:spPr>
            <a:xfrm>
              <a:off x="4297679" y="2286000"/>
              <a:ext cx="3566160" cy="822960"/>
            </a:xfrm>
            <a:prstGeom prst="chevron">
              <a:avLst/>
            </a:prstGeom>
            <a:solidFill>
              <a:srgbClr val="00B8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b="1">
                  <a:solidFill>
                    <a:srgbClr val="FFFFFF"/>
                  </a:solidFill>
                  <a:latin typeface="Arial"/>
                </a:rPr>
                <a:t>Step 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97679" y="3383280"/>
              <a:ext cx="32918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200" b="1">
                  <a:solidFill>
                    <a:srgbClr val="172B4D"/>
                  </a:solidFill>
                  <a:latin typeface="Arial"/>
                </a:rPr>
                <a:t>Choose a language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297679" y="3977639"/>
              <a:ext cx="3291840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>
                  <a:solidFill>
                    <a:srgbClr val="5E6C84"/>
                  </a:solidFill>
                  <a:latin typeface="Arial"/>
                </a:rPr>
                <a:t>The viewer picks their language from the player menu.</a:t>
              </a:r>
            </a:p>
          </p:txBody>
        </p:sp>
        <p:sp>
          <p:nvSpPr>
            <p:cNvPr id="12" name="Chevron 11"/>
            <p:cNvSpPr/>
            <p:nvPr/>
          </p:nvSpPr>
          <p:spPr>
            <a:xfrm>
              <a:off x="8046718" y="2286000"/>
              <a:ext cx="3566160" cy="822960"/>
            </a:xfrm>
            <a:prstGeom prst="chevron">
              <a:avLst/>
            </a:prstGeom>
            <a:solidFill>
              <a:srgbClr val="172B4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b="1">
                  <a:solidFill>
                    <a:srgbClr val="FFFFFF"/>
                  </a:solidFill>
                  <a:latin typeface="Arial"/>
                </a:rPr>
                <a:t>Step 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46718" y="3383280"/>
              <a:ext cx="32918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200" b="1">
                  <a:solidFill>
                    <a:srgbClr val="172B4D"/>
                  </a:solidFill>
                  <a:latin typeface="Arial"/>
                </a:rPr>
                <a:t>Watch and listen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46718" y="3977639"/>
              <a:ext cx="3291840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>
                  <a:solidFill>
                    <a:srgbClr val="5E6C84"/>
                  </a:solidFill>
                  <a:latin typeface="Arial"/>
                </a:rPr>
                <a:t>Captions and an AI voice-over play in that language.</a:t>
              </a:r>
            </a:p>
          </p:txBody>
        </p:sp>
      </p:grpSp>
      <p:sp>
        <p:nvSpPr>
          <p:cNvPr id="15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7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371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0" b="1">
                <a:solidFill>
                  <a:srgbClr val="00B8D9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Half my team is in Brazil and Japan. I either record three versions of every update or accept that some people only get half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Team lead, global product team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Composite quote from the launch brief (hypothetical)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914400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052CC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691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C84"/>
                </a:solidFill>
                <a:latin typeface="Arial"/>
              </a:rPr>
              <a:t>languages at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560320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052CC"/>
                </a:solidFill>
                <a:latin typeface="Arial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3375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C84"/>
                </a:solidFill>
                <a:latin typeface="Arial"/>
              </a:rPr>
              <a:t>teams in the beta (hypothetical)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206240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052CC"/>
                </a:solidFill>
                <a:latin typeface="Arial"/>
              </a:rPr>
              <a:t>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9834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C84"/>
                </a:solidFill>
                <a:latin typeface="Arial"/>
              </a:rPr>
              <a:t>languages Loom already transcribes</a:t>
            </a:r>
          </a:p>
        </p:txBody>
      </p:sp>
      <p:sp>
        <p:nvSpPr>
          <p:cNvPr id="12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Included with Loom's AI plans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6423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32"/>
                <a:gridCol w="2434132"/>
                <a:gridCol w="3097987"/>
                <a:gridCol w="3097987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Business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Business + AI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Enterprise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$18 per user/month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$24 per user/month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Contact sales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Auto-translate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Not included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Included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Included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AI features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Auto titles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Summaries, chapters, AI workflows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Summaries, chapters, AI workflows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SSO, SCIM, custom retention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937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C84"/>
                </a:solidFill>
                <a:latin typeface="Arial"/>
              </a:rPr>
              <a:t>Prices from atlassian.com/software/loom/pricing, checked October 2026. Annual billing saves up to 17%.</a:t>
            </a:r>
          </a:p>
        </p:txBody>
      </p:sp>
      <p:sp>
        <p:nvSpPr>
          <p:cNvPr id="7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THE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How teams cover more than one language today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642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914"/>
                <a:gridCol w="2544775"/>
                <a:gridCol w="2544775"/>
                <a:gridCol w="2544775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Auto-translate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Record each language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Captions only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Creator effort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Record once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One take per language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Add a file per language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Viewer hears their language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Yes, AI voice-over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Yes, creator's voice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No, reads captions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Checked by a person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No, marked as machine translated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Depends on the source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Longest video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45 minutes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No limit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No limit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474720"/>
            <a:ext cx="4572000" cy="4572000"/>
          </a:xfrm>
          <a:prstGeom prst="ellipse">
            <a:avLst/>
          </a:prstGeom>
          <a:solidFill>
            <a:srgbClr val="655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1828800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Try it on your next Loom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017520"/>
            <a:ext cx="7589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Auto-translate arrives November 18, 2026 on the Business + AI and Enterprise plans.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206240"/>
            <a:ext cx="3108960" cy="685800"/>
          </a:xfrm>
          <a:prstGeom prst="roundRect">
            <a:avLst/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72B4D"/>
                </a:solidFill>
                <a:latin typeface="Arial"/>
              </a:rPr>
              <a:t>example.com/loom/auto-translate</a:t>
            </a:r>
          </a:p>
        </p:txBody>
      </p:sp>
      <p:sp>
        <p:nvSpPr>
          <p:cNvPr id="7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Loom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