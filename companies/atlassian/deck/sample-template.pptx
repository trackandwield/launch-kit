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3291840"/>
            <a:ext cx="3840480" cy="3840480"/>
          </a:xfrm>
          <a:prstGeom prst="ellipse">
            <a:avLst/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PRODUCT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7315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Introducing Pipeline 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6583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Live health checks for every data pipeline, right where your team already 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Jamie Rivera  ·  Product Marketing  ·  March 2026</a:t>
            </a:r>
          </a:p>
        </p:txBody>
      </p:sp>
      <p:sp>
        <p:nvSpPr>
          <p:cNvPr id="9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Sample Co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Sample template for testing. Unofficial, not affiliated with Atlassian.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What we'll cover today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121408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The problem with silent pipeline failures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24912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4320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Meet Pipeline Pulse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46704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64992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How it works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68496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986784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What customers are saying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90288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608576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Plans and pricing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230368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Next steps</a:t>
            </a:r>
          </a:p>
        </p:txBody>
      </p:sp>
      <p:sp>
        <p:nvSpPr>
          <p:cNvPr id="17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Sample Co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Sample template for testing. Unofficial, not affiliated with Atlassian.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Broken pipelines are found by customers, not teams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4023360" cy="3566160"/>
          </a:xfrm>
          <a:prstGeom prst="roundRect">
            <a:avLst>
              <a:gd name="adj" fmla="val 6000"/>
            </a:avLst>
          </a:prstGeom>
          <a:solidFill>
            <a:srgbClr val="17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3566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AB00"/>
                </a:solidFill>
                <a:latin typeface="Arial"/>
              </a:rPr>
              <a:t>6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3474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Average time before a failed nightly job is noticed by the data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286000"/>
            <a:ext cx="6309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B4D"/>
                </a:solidFill>
                <a:latin typeface="Arial"/>
              </a:rPr>
              <a:t>•  Alerts fire in five different tools, so nobody owns them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B4D"/>
                </a:solidFill>
                <a:latin typeface="Arial"/>
              </a:rPr>
              <a:t>•  Dashboards quietly show stale numbers to leadership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B4D"/>
                </a:solidFill>
                <a:latin typeface="Arial"/>
              </a:rPr>
              <a:t>•  Engineers spend Monday mornings tracing what broke on Friday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B4D"/>
                </a:solidFill>
                <a:latin typeface="Arial"/>
              </a:rPr>
              <a:t>•  Every fix starts with the same question: who changed what?</a:t>
            </a:r>
          </a:p>
        </p:txBody>
      </p:sp>
      <p:sp>
        <p:nvSpPr>
          <p:cNvPr id="9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Sample Co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Sample template for testing. Unofficial, not affiliated with Atlassian.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One place to see, fix and prevent pipeline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514600"/>
            <a:ext cx="685800" cy="6858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rial"/>
              </a:rPr>
              <a:t>See it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E6C84"/>
                </a:solidFill>
                <a:latin typeface="Arial"/>
              </a:rPr>
              <a:t>Health checks run after every job and flag problems in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19456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19" y="2514600"/>
            <a:ext cx="685800" cy="685800"/>
          </a:xfrm>
          <a:prstGeom prst="ellipse">
            <a:avLst/>
          </a:prstGeom>
          <a:solidFill>
            <a:srgbClr val="655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34290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rial"/>
              </a:rPr>
              <a:t>Fix it 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402336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E6C84"/>
                </a:solidFill>
                <a:latin typeface="Arial"/>
              </a:rPr>
              <a:t>Every alert links to the run, the change and the owner.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219456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66758" y="2514600"/>
            <a:ext cx="685800" cy="685800"/>
          </a:xfrm>
          <a:prstGeom prst="ellipse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8" y="34290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rial"/>
              </a:rPr>
              <a:t>Stop repeats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8" y="402336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E6C84"/>
                </a:solidFill>
                <a:latin typeface="Arial"/>
              </a:rPr>
              <a:t>Weekly reports show which pipelines break most and why.</a:t>
            </a:r>
          </a:p>
        </p:txBody>
      </p:sp>
      <p:sp>
        <p:nvSpPr>
          <p:cNvPr id="17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Sample Co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Sample template for testing. Unofficial, not affiliated with Atlassian.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Up and running in three steps</a:t>
            </a:r>
          </a:p>
        </p:txBody>
      </p:sp>
      <p:grpSp>
        <p:nvGrpSpPr>
          <p:cNvPr id="5" name="Steps"/>
          <p:cNvGrpSpPr/>
          <p:nvPr/>
        </p:nvGrpSpPr>
        <p:grpSpPr>
          <a:xfrm>
            <a:off x="548640" y="2286000"/>
            <a:ext cx="11064238" cy="3154679"/>
            <a:chOff x="548640" y="2286000"/>
            <a:chExt cx="11064238" cy="3154679"/>
          </a:xfrm>
        </p:grpSpPr>
        <p:sp>
          <p:nvSpPr>
            <p:cNvPr id="6" name="Pentagon 5"/>
            <p:cNvSpPr/>
            <p:nvPr/>
          </p:nvSpPr>
          <p:spPr>
            <a:xfrm>
              <a:off x="548640" y="2286000"/>
              <a:ext cx="3566160" cy="822960"/>
            </a:xfrm>
            <a:prstGeom prst="homePlate">
              <a:avLst/>
            </a:prstGeom>
            <a:solidFill>
              <a:srgbClr val="0052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b="1">
                  <a:solidFill>
                    <a:srgbClr val="FFFFFF"/>
                  </a:solidFill>
                  <a:latin typeface="Arial"/>
                </a:rPr>
                <a:t>Step 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48640" y="3383280"/>
              <a:ext cx="32918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200" b="1">
                  <a:solidFill>
                    <a:srgbClr val="172B4D"/>
                  </a:solidFill>
                  <a:latin typeface="Arial"/>
                </a:rPr>
                <a:t>Connect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8640" y="3977639"/>
              <a:ext cx="3291840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>
                  <a:solidFill>
                    <a:srgbClr val="5E6C84"/>
                  </a:solidFill>
                  <a:latin typeface="Arial"/>
                </a:rPr>
                <a:t>Link your scheduler in two clicks. No agents to install.</a:t>
              </a:r>
            </a:p>
          </p:txBody>
        </p:sp>
        <p:sp>
          <p:nvSpPr>
            <p:cNvPr id="9" name="Chevron 8"/>
            <p:cNvSpPr/>
            <p:nvPr/>
          </p:nvSpPr>
          <p:spPr>
            <a:xfrm>
              <a:off x="4297679" y="2286000"/>
              <a:ext cx="3566160" cy="822960"/>
            </a:xfrm>
            <a:prstGeom prst="chevron">
              <a:avLst/>
            </a:prstGeom>
            <a:solidFill>
              <a:srgbClr val="00B8D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b="1">
                  <a:solidFill>
                    <a:srgbClr val="FFFFFF"/>
                  </a:solidFill>
                  <a:latin typeface="Arial"/>
                </a:rPr>
                <a:t>Step 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97679" y="3383280"/>
              <a:ext cx="32918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200" b="1">
                  <a:solidFill>
                    <a:srgbClr val="172B4D"/>
                  </a:solidFill>
                  <a:latin typeface="Arial"/>
                </a:rPr>
                <a:t>Choose checks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297679" y="3977639"/>
              <a:ext cx="3291840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>
                  <a:solidFill>
                    <a:srgbClr val="5E6C84"/>
                  </a:solidFill>
                  <a:latin typeface="Arial"/>
                </a:rPr>
                <a:t>Pick from 40 ready-made checks or write your own in SQL.</a:t>
              </a:r>
            </a:p>
          </p:txBody>
        </p:sp>
        <p:sp>
          <p:nvSpPr>
            <p:cNvPr id="12" name="Chevron 11"/>
            <p:cNvSpPr/>
            <p:nvPr/>
          </p:nvSpPr>
          <p:spPr>
            <a:xfrm>
              <a:off x="8046718" y="2286000"/>
              <a:ext cx="3566160" cy="822960"/>
            </a:xfrm>
            <a:prstGeom prst="chevron">
              <a:avLst/>
            </a:prstGeom>
            <a:solidFill>
              <a:srgbClr val="172B4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b="1">
                  <a:solidFill>
                    <a:srgbClr val="FFFFFF"/>
                  </a:solidFill>
                  <a:latin typeface="Arial"/>
                </a:rPr>
                <a:t>Step 3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046718" y="3383280"/>
              <a:ext cx="32918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200" b="1">
                  <a:solidFill>
                    <a:srgbClr val="172B4D"/>
                  </a:solidFill>
                  <a:latin typeface="Arial"/>
                </a:rPr>
                <a:t>Get alerts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46718" y="3977639"/>
              <a:ext cx="3291840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>
                  <a:solidFill>
                    <a:srgbClr val="5E6C84"/>
                  </a:solidFill>
                  <a:latin typeface="Arial"/>
                </a:rPr>
                <a:t>Issues land in your team's chat with the owner tagged.</a:t>
              </a:r>
            </a:p>
          </p:txBody>
        </p:sp>
      </p:grpSp>
      <p:sp>
        <p:nvSpPr>
          <p:cNvPr id="15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Sample Co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Sample template for testing. Unofficial, not affiliated with Atlassian.</a:t>
            </a:r>
          </a:p>
        </p:txBody>
      </p:sp>
      <p:sp>
        <p:nvSpPr>
          <p:cNvPr id="18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7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371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0" b="1">
                <a:solidFill>
                  <a:srgbClr val="00B8D9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We used to hear about broken reports from the CFO. Now we fix them before anyone opens a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Priya Shah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Head of Data, Northwind Outfitters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914400"/>
            <a:ext cx="4114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0052CC"/>
                </a:solidFill>
                <a:latin typeface="Arial"/>
              </a:rPr>
              <a:t>83%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691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C84"/>
                </a:solidFill>
                <a:latin typeface="Arial"/>
              </a:rPr>
              <a:t>fewer stale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560320"/>
            <a:ext cx="4114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0052CC"/>
                </a:solidFill>
                <a:latin typeface="Arial"/>
              </a:rPr>
              <a:t>4x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3375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C84"/>
                </a:solidFill>
                <a:latin typeface="Arial"/>
              </a:rPr>
              <a:t>faster time to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206240"/>
            <a:ext cx="4114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0052CC"/>
                </a:solidFill>
                <a:latin typeface="Arial"/>
              </a:rPr>
              <a:t>12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9834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C84"/>
                </a:solidFill>
                <a:latin typeface="Arial"/>
              </a:rPr>
              <a:t>median time to detect</a:t>
            </a:r>
          </a:p>
        </p:txBody>
      </p:sp>
      <p:sp>
        <p:nvSpPr>
          <p:cNvPr id="12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Sample Co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Sample template for testing. Unofficial, not affiliated with Atlassian.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Simple pricing that grows with you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6423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32"/>
                <a:gridCol w="2434132"/>
                <a:gridCol w="3097987"/>
                <a:gridCol w="3097987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Free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Premium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Price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$12 per user/month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$20 per user/month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Pipelines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Up to 5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Unlimited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Unlimited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Checks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Ready-made only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Ready-made and custom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Ready-made and custom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Support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Community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Business hours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24/7 with 1-hour response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937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C84"/>
                </a:solidFill>
                <a:latin typeface="Arial"/>
              </a:rPr>
              <a:t>Save 15% with annual billing.</a:t>
            </a:r>
          </a:p>
        </p:txBody>
      </p:sp>
      <p:sp>
        <p:nvSpPr>
          <p:cNvPr id="7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Sample Co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Sample template for testing. Unofficial, not affiliated with Atlassian.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WHY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How Pipeline Pulse compares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642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914"/>
                <a:gridCol w="2544775"/>
                <a:gridCol w="2544775"/>
                <a:gridCol w="2544775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Pipeline Pulse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DIY scripts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Legacy monitoring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Setup time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Minutes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Weeks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Days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Knows who owns each job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Partly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Alerts in team chat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If you build it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Email only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Cost to maintain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Included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Engineer time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Annual contract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Sample Co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Sample template for testing. Unofficial, not affiliated with Atlassian.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474720"/>
            <a:ext cx="4572000" cy="4572000"/>
          </a:xfrm>
          <a:prstGeom prst="ellipse">
            <a:avLst/>
          </a:prstGeom>
          <a:solidFill>
            <a:srgbClr val="655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1828800"/>
            <a:ext cx="7772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Try Pipeline Pulse 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017520"/>
            <a:ext cx="7589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Connect your first pipeline in under five minutes. No credit card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206240"/>
            <a:ext cx="3108960" cy="685800"/>
          </a:xfrm>
          <a:prstGeom prst="roundRect">
            <a:avLst/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72B4D"/>
                </a:solidFill>
                <a:latin typeface="Arial"/>
              </a:rPr>
              <a:t>samplecompany.com/pulse</a:t>
            </a:r>
          </a:p>
        </p:txBody>
      </p:sp>
      <p:sp>
        <p:nvSpPr>
          <p:cNvPr id="7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Sample Co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Sample template for testing. Unofficial, not affiliated with Atlassian.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